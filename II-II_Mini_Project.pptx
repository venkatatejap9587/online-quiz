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5" d="100"/>
          <a:sy n="85" d="100"/>
        </p:scale>
        <p:origin x="354" y="3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C1A070-7A3F-255A-569A-C4A4DEBA60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F7FE9B-1D29-9643-FD0E-30A59BC87B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86C4FC-5026-2C1F-1829-DCD2466D2C8B}"/>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5" name="Footer Placeholder 4">
            <a:extLst>
              <a:ext uri="{FF2B5EF4-FFF2-40B4-BE49-F238E27FC236}">
                <a16:creationId xmlns:a16="http://schemas.microsoft.com/office/drawing/2014/main" id="{53CC21F5-8ACE-2691-903B-3B4F4E0D69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719426-D820-CB92-B908-BB9C8F598B7B}"/>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94488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9FAC-D646-A37A-08E1-309A3705E4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90F9268-076B-5BEB-FDDD-2930EE5B9E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40086E6-0738-3FC3-49D5-D714EFCED5CB}"/>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5" name="Footer Placeholder 4">
            <a:extLst>
              <a:ext uri="{FF2B5EF4-FFF2-40B4-BE49-F238E27FC236}">
                <a16:creationId xmlns:a16="http://schemas.microsoft.com/office/drawing/2014/main" id="{C54C658E-6DCD-7445-3CB3-B7BA694904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EF3343-6D63-B098-AA98-55C633599C9B}"/>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3361804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3271-FE2F-A41E-5A06-F19239B62D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93752B-0FB0-E599-B391-32D797745F7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AFD211B-592E-B473-EAAD-DDC0E81B28C5}"/>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5" name="Footer Placeholder 4">
            <a:extLst>
              <a:ext uri="{FF2B5EF4-FFF2-40B4-BE49-F238E27FC236}">
                <a16:creationId xmlns:a16="http://schemas.microsoft.com/office/drawing/2014/main" id="{D82E99E4-BCBC-E2E1-87D7-0EE35FED67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C0940-A886-9FAD-7042-5760B1F8A9E4}"/>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20912920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B1C1C-5949-FCFC-238D-CA0F33059DF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FF9324-7367-FF94-B635-910E97794E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FD40DB8-BA37-2AE0-D0ED-A23886617F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A9DCA51-0867-AB8D-AC90-6E1224E1186B}"/>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6" name="Footer Placeholder 5">
            <a:extLst>
              <a:ext uri="{FF2B5EF4-FFF2-40B4-BE49-F238E27FC236}">
                <a16:creationId xmlns:a16="http://schemas.microsoft.com/office/drawing/2014/main" id="{48DDC9D7-39F1-C247-8EF6-4929636B115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0C7B912-658B-D77C-37CF-F7175F77E6FA}"/>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17667494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4888B-72ED-2BA4-2291-39E9E39C804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E54F057-4FAC-53BA-BD9B-5646A1920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A13C5F-E447-F15D-D5DB-8EBA88E63B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52395BB-7028-0203-F435-10F237A26B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0B0BF5-E870-2D2E-4C0E-0EB89C424F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42DF316-321D-0962-A713-09AA14BDC35C}"/>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8" name="Footer Placeholder 7">
            <a:extLst>
              <a:ext uri="{FF2B5EF4-FFF2-40B4-BE49-F238E27FC236}">
                <a16:creationId xmlns:a16="http://schemas.microsoft.com/office/drawing/2014/main" id="{16A7534E-605D-BA98-E9A8-46041E2F54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652989-7ABF-F17C-9B66-206E88835EAD}"/>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37567084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289C0-0435-0ECF-4B11-F576B90D995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01760F7-6053-928E-B9D1-6D302098261B}"/>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4" name="Footer Placeholder 3">
            <a:extLst>
              <a:ext uri="{FF2B5EF4-FFF2-40B4-BE49-F238E27FC236}">
                <a16:creationId xmlns:a16="http://schemas.microsoft.com/office/drawing/2014/main" id="{96F0D923-296D-DD7C-AB59-BCB1335DA45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033220-741B-E5DB-8F3B-6430EBB70CA4}"/>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38055443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37C3E9F-A94B-E850-5D27-0AB2AE81FB43}"/>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3" name="Footer Placeholder 2">
            <a:extLst>
              <a:ext uri="{FF2B5EF4-FFF2-40B4-BE49-F238E27FC236}">
                <a16:creationId xmlns:a16="http://schemas.microsoft.com/office/drawing/2014/main" id="{86BB719D-4A46-AC3F-D820-304679EE877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9AE5840-F1B9-44CF-F67F-74C731311844}"/>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132476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F533B-32A6-B869-945F-0845D2B93B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1505739-64DD-B43D-D6B9-986106A52CE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03D801D-E379-A5AA-A878-697882F9EB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479EA1-40B3-099F-67FD-64EC2B3B41B1}"/>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6" name="Footer Placeholder 5">
            <a:extLst>
              <a:ext uri="{FF2B5EF4-FFF2-40B4-BE49-F238E27FC236}">
                <a16:creationId xmlns:a16="http://schemas.microsoft.com/office/drawing/2014/main" id="{619EAF6D-18A5-0D71-4D3A-557182FC9FE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673046A-C4DC-186A-73F3-DC3E3B828287}"/>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2972902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93DA8-3AE9-8297-F17C-2C73105785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2ED10E8-DB33-A629-0AF9-46FD329B35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365557A-C275-41C1-79EA-2EE119BC85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D3BC888-98E4-97EB-61D7-C793FDB4CFCC}"/>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6" name="Footer Placeholder 5">
            <a:extLst>
              <a:ext uri="{FF2B5EF4-FFF2-40B4-BE49-F238E27FC236}">
                <a16:creationId xmlns:a16="http://schemas.microsoft.com/office/drawing/2014/main" id="{234325DF-DFF8-126B-E7FD-C1AC65F59DA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8327C8-3190-2E90-89C1-A929166B4872}"/>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8622557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7A293-DFE0-D21D-90B5-7BA53D571E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FB30F5-EEBA-FB88-DAC4-516E1ECDEE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09D9F2-1830-7A9F-4ABA-5516755AB569}"/>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5" name="Footer Placeholder 4">
            <a:extLst>
              <a:ext uri="{FF2B5EF4-FFF2-40B4-BE49-F238E27FC236}">
                <a16:creationId xmlns:a16="http://schemas.microsoft.com/office/drawing/2014/main" id="{63F72819-4F91-6AD9-0E9B-A839D99FD3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D0007B-49C3-CF37-068A-538AE329C500}"/>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411958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C2A218-8EF4-8465-1FFB-5BDC3125BB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6E2AD60-8652-E02F-268A-8E716488D97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FC4BBE-A8F2-5182-AB82-86D249A885BD}"/>
              </a:ext>
            </a:extLst>
          </p:cNvPr>
          <p:cNvSpPr>
            <a:spLocks noGrp="1"/>
          </p:cNvSpPr>
          <p:nvPr>
            <p:ph type="dt" sz="half" idx="10"/>
          </p:nvPr>
        </p:nvSpPr>
        <p:spPr/>
        <p:txBody>
          <a:bodyPr/>
          <a:lstStyle/>
          <a:p>
            <a:fld id="{D1B66547-34A4-41A6-9F06-DF3C7A59B09B}" type="datetimeFigureOut">
              <a:rPr lang="en-IN" smtClean="0"/>
              <a:t>11-02-2025</a:t>
            </a:fld>
            <a:endParaRPr lang="en-IN"/>
          </a:p>
        </p:txBody>
      </p:sp>
      <p:sp>
        <p:nvSpPr>
          <p:cNvPr id="5" name="Footer Placeholder 4">
            <a:extLst>
              <a:ext uri="{FF2B5EF4-FFF2-40B4-BE49-F238E27FC236}">
                <a16:creationId xmlns:a16="http://schemas.microsoft.com/office/drawing/2014/main" id="{1889C7E0-EB53-A58C-FE2A-6027B739435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1E5D77-66FC-FA2B-77AC-8B8744C778B4}"/>
              </a:ext>
            </a:extLst>
          </p:cNvPr>
          <p:cNvSpPr>
            <a:spLocks noGrp="1"/>
          </p:cNvSpPr>
          <p:nvPr>
            <p:ph type="sldNum" sz="quarter" idx="12"/>
          </p:nvPr>
        </p:nvSpPr>
        <p:spPr/>
        <p:txBody>
          <a:bodyPr/>
          <a:lstStyle/>
          <a:p>
            <a:fld id="{76C31E25-AAD6-4C03-80E1-2B8FFE73A8BA}" type="slidenum">
              <a:rPr lang="en-IN" smtClean="0"/>
              <a:t>‹#›</a:t>
            </a:fld>
            <a:endParaRPr lang="en-IN"/>
          </a:p>
        </p:txBody>
      </p:sp>
    </p:spTree>
    <p:extLst>
      <p:ext uri="{BB962C8B-B14F-4D97-AF65-F5344CB8AC3E}">
        <p14:creationId xmlns:p14="http://schemas.microsoft.com/office/powerpoint/2010/main" val="917176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7366D76-6FDF-9466-8EF5-8378141D6E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ACA038-9FC3-4814-D5BF-FDEE6F1DE8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0B0225B-4901-2366-D0DD-BDD01AD5F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B66547-34A4-41A6-9F06-DF3C7A59B09B}" type="datetimeFigureOut">
              <a:rPr lang="en-IN" smtClean="0"/>
              <a:t>11-02-2025</a:t>
            </a:fld>
            <a:endParaRPr lang="en-IN"/>
          </a:p>
        </p:txBody>
      </p:sp>
      <p:sp>
        <p:nvSpPr>
          <p:cNvPr id="5" name="Footer Placeholder 4">
            <a:extLst>
              <a:ext uri="{FF2B5EF4-FFF2-40B4-BE49-F238E27FC236}">
                <a16:creationId xmlns:a16="http://schemas.microsoft.com/office/drawing/2014/main" id="{222D3F22-C535-85DB-6752-D82F5C4DA4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EE858EF-D4CE-7079-6894-9EEFF3573F9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C31E25-AAD6-4C03-80E1-2B8FFE73A8BA}" type="slidenum">
              <a:rPr lang="en-IN" smtClean="0"/>
              <a:t>‹#›</a:t>
            </a:fld>
            <a:endParaRPr lang="en-IN"/>
          </a:p>
        </p:txBody>
      </p:sp>
    </p:spTree>
    <p:extLst>
      <p:ext uri="{BB962C8B-B14F-4D97-AF65-F5344CB8AC3E}">
        <p14:creationId xmlns:p14="http://schemas.microsoft.com/office/powerpoint/2010/main" val="10787561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6857-F049-7478-0D1A-E7F252F741EB}"/>
              </a:ext>
            </a:extLst>
          </p:cNvPr>
          <p:cNvSpPr>
            <a:spLocks noGrp="1"/>
          </p:cNvSpPr>
          <p:nvPr>
            <p:ph type="ctrTitle"/>
          </p:nvPr>
        </p:nvSpPr>
        <p:spPr/>
        <p:txBody>
          <a:bodyPr/>
          <a:lstStyle/>
          <a:p>
            <a:r>
              <a:rPr lang="en-IN" dirty="0"/>
              <a:t>REVIEW-01</a:t>
            </a:r>
          </a:p>
        </p:txBody>
      </p:sp>
    </p:spTree>
    <p:extLst>
      <p:ext uri="{BB962C8B-B14F-4D97-AF65-F5344CB8AC3E}">
        <p14:creationId xmlns:p14="http://schemas.microsoft.com/office/powerpoint/2010/main" val="2044689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3BF12-954E-71D0-10CA-34F2C6FEC29B}"/>
              </a:ext>
            </a:extLst>
          </p:cNvPr>
          <p:cNvSpPr>
            <a:spLocks noGrp="1"/>
          </p:cNvSpPr>
          <p:nvPr>
            <p:ph type="title"/>
          </p:nvPr>
        </p:nvSpPr>
        <p:spPr>
          <a:xfrm>
            <a:off x="838200" y="365125"/>
            <a:ext cx="10515600" cy="72441"/>
          </a:xfrm>
        </p:spPr>
        <p:txBody>
          <a:bodyPr>
            <a:normAutofit fontScale="90000"/>
          </a:bodyPr>
          <a:lstStyle/>
          <a:p>
            <a:pPr algn="ctr"/>
            <a:r>
              <a:rPr lang="en-IN" dirty="0"/>
              <a:t>                 </a:t>
            </a:r>
            <a:br>
              <a:rPr lang="en-IN" dirty="0"/>
            </a:br>
            <a:br>
              <a:rPr lang="en-IN" dirty="0"/>
            </a:br>
            <a:br>
              <a:rPr lang="en-IN" dirty="0"/>
            </a:br>
            <a:br>
              <a:rPr lang="en-IN" dirty="0"/>
            </a:br>
            <a:r>
              <a:rPr lang="en-IN" dirty="0"/>
              <a:t> </a:t>
            </a:r>
            <a:r>
              <a:rPr lang="en-IN" b="1" dirty="0"/>
              <a:t>Online Quiz Platform Application</a:t>
            </a:r>
          </a:p>
        </p:txBody>
      </p:sp>
      <p:sp>
        <p:nvSpPr>
          <p:cNvPr id="3" name="Content Placeholder 2">
            <a:extLst>
              <a:ext uri="{FF2B5EF4-FFF2-40B4-BE49-F238E27FC236}">
                <a16:creationId xmlns:a16="http://schemas.microsoft.com/office/drawing/2014/main" id="{D96C0FA0-4896-E568-9EC1-52ED23D39EB1}"/>
              </a:ext>
            </a:extLst>
          </p:cNvPr>
          <p:cNvSpPr>
            <a:spLocks noGrp="1"/>
          </p:cNvSpPr>
          <p:nvPr>
            <p:ph idx="1"/>
          </p:nvPr>
        </p:nvSpPr>
        <p:spPr>
          <a:xfrm>
            <a:off x="275303" y="1520260"/>
            <a:ext cx="12015019" cy="4656703"/>
          </a:xfrm>
        </p:spPr>
        <p:txBody>
          <a:bodyPr>
            <a:normAutofit/>
          </a:bodyPr>
          <a:lstStyle/>
          <a:p>
            <a:pPr marL="0" indent="0">
              <a:buNone/>
            </a:pPr>
            <a:endParaRPr lang="en-IN" dirty="0"/>
          </a:p>
          <a:p>
            <a:pPr marL="0" indent="0">
              <a:buNone/>
            </a:pPr>
            <a:r>
              <a:rPr lang="en-IN" dirty="0"/>
              <a:t>                                                             </a:t>
            </a:r>
          </a:p>
          <a:p>
            <a:pPr marL="0" indent="0">
              <a:buNone/>
            </a:pPr>
            <a:r>
              <a:rPr lang="en-IN" dirty="0"/>
              <a:t>              </a:t>
            </a:r>
          </a:p>
          <a:p>
            <a:pPr marL="0" indent="0">
              <a:buNone/>
            </a:pPr>
            <a:r>
              <a:rPr lang="en-IN" sz="2400" dirty="0"/>
              <a:t>Team No:40								Guide:</a:t>
            </a:r>
          </a:p>
          <a:p>
            <a:pPr marL="0" indent="0">
              <a:buNone/>
            </a:pPr>
            <a:r>
              <a:rPr lang="en-IN" sz="2400" dirty="0"/>
              <a:t>B Sai </a:t>
            </a:r>
            <a:r>
              <a:rPr lang="en-IN" sz="2400" dirty="0" err="1"/>
              <a:t>Abhighn</a:t>
            </a:r>
            <a:r>
              <a:rPr lang="en-IN" sz="2400" dirty="0"/>
              <a:t> Reddy : 23881A6669                                         Mr. Manzoor </a:t>
            </a:r>
            <a:r>
              <a:rPr lang="en-IN" sz="2400" dirty="0" err="1"/>
              <a:t>Mohammand</a:t>
            </a:r>
            <a:r>
              <a:rPr lang="en-IN" sz="2400" dirty="0"/>
              <a:t>                                              </a:t>
            </a:r>
          </a:p>
          <a:p>
            <a:pPr marL="0" indent="0">
              <a:buNone/>
            </a:pPr>
            <a:r>
              <a:rPr lang="en-IN" sz="2400" dirty="0"/>
              <a:t>P Venkata Teja : 23881A66A1                                                          Assistant Professor</a:t>
            </a:r>
          </a:p>
          <a:p>
            <a:pPr marL="0" indent="0">
              <a:buNone/>
            </a:pPr>
            <a:r>
              <a:rPr lang="en-IN" sz="2400" dirty="0"/>
              <a:t>R Vijitha : 23881A66A7                                                                            CSE(AI&amp;ML)</a:t>
            </a:r>
          </a:p>
          <a:p>
            <a:pPr marL="0" indent="0">
              <a:buNone/>
            </a:pPr>
            <a:r>
              <a:rPr lang="en-IN" sz="2400" dirty="0"/>
              <a:t>S Aishwarya : 24885A6614</a:t>
            </a:r>
          </a:p>
          <a:p>
            <a:pPr marL="0" indent="0">
              <a:buNone/>
            </a:pPr>
            <a:r>
              <a:rPr lang="en-IN" dirty="0"/>
              <a:t>                                                                       </a:t>
            </a:r>
          </a:p>
        </p:txBody>
      </p:sp>
    </p:spTree>
    <p:extLst>
      <p:ext uri="{BB962C8B-B14F-4D97-AF65-F5344CB8AC3E}">
        <p14:creationId xmlns:p14="http://schemas.microsoft.com/office/powerpoint/2010/main" val="1711222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2876D-15EB-78D2-0C5E-8D25DB9DF351}"/>
              </a:ext>
            </a:extLst>
          </p:cNvPr>
          <p:cNvSpPr>
            <a:spLocks noGrp="1"/>
          </p:cNvSpPr>
          <p:nvPr>
            <p:ph type="title"/>
          </p:nvPr>
        </p:nvSpPr>
        <p:spPr/>
        <p:txBody>
          <a:bodyPr/>
          <a:lstStyle/>
          <a:p>
            <a:r>
              <a:rPr lang="en-IN" dirty="0"/>
              <a:t>Objectives</a:t>
            </a:r>
          </a:p>
        </p:txBody>
      </p:sp>
      <p:sp>
        <p:nvSpPr>
          <p:cNvPr id="4" name="Rectangle 1">
            <a:extLst>
              <a:ext uri="{FF2B5EF4-FFF2-40B4-BE49-F238E27FC236}">
                <a16:creationId xmlns:a16="http://schemas.microsoft.com/office/drawing/2014/main" id="{40A2C82F-C990-390D-4204-6CF37D92C4A8}"/>
              </a:ext>
            </a:extLst>
          </p:cNvPr>
          <p:cNvSpPr>
            <a:spLocks noGrp="1" noChangeArrowheads="1"/>
          </p:cNvSpPr>
          <p:nvPr>
            <p:ph idx="1"/>
          </p:nvPr>
        </p:nvSpPr>
        <p:spPr bwMode="auto">
          <a:xfrm>
            <a:off x="838200" y="1170680"/>
            <a:ext cx="1068520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Develop a user-friendly </a:t>
            </a:r>
            <a:r>
              <a:rPr kumimoji="0" lang="en-US" altLang="en-US" sz="2400" b="1" i="0" u="none" strike="noStrike" cap="none" normalizeH="0" baseline="0" dirty="0">
                <a:ln>
                  <a:noFill/>
                </a:ln>
                <a:solidFill>
                  <a:schemeClr val="tx1"/>
                </a:solidFill>
                <a:effectLst/>
                <a:latin typeface="Arial" panose="020B0604020202020204" pitchFamily="34" charset="0"/>
              </a:rPr>
              <a:t>online quiz platform</a:t>
            </a:r>
            <a:r>
              <a:rPr kumimoji="0" lang="en-US" altLang="en-US" sz="2400" b="0" i="0" u="none" strike="noStrike" cap="none" normalizeH="0" baseline="0" dirty="0">
                <a:ln>
                  <a:noFill/>
                </a:ln>
                <a:solidFill>
                  <a:schemeClr val="tx1"/>
                </a:solidFill>
                <a:effectLst/>
                <a:latin typeface="Arial" panose="020B0604020202020204" pitchFamily="34" charset="0"/>
              </a:rPr>
              <a:t> for educational or competitive purposes.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Enable </a:t>
            </a:r>
            <a:r>
              <a:rPr kumimoji="0" lang="en-US" altLang="en-US" sz="2400" b="1" i="0" u="none" strike="noStrike" cap="none" normalizeH="0" baseline="0" dirty="0">
                <a:ln>
                  <a:noFill/>
                </a:ln>
                <a:solidFill>
                  <a:schemeClr val="tx1"/>
                </a:solidFill>
                <a:effectLst/>
                <a:latin typeface="Arial" panose="020B0604020202020204" pitchFamily="34" charset="0"/>
              </a:rPr>
              <a:t>students, professionals, or general users</a:t>
            </a:r>
            <a:r>
              <a:rPr kumimoji="0" lang="en-US" altLang="en-US" sz="2400" b="0" i="0" u="none" strike="noStrike" cap="none" normalizeH="0" baseline="0" dirty="0">
                <a:ln>
                  <a:noFill/>
                </a:ln>
                <a:solidFill>
                  <a:schemeClr val="tx1"/>
                </a:solidFill>
                <a:effectLst/>
                <a:latin typeface="Arial" panose="020B0604020202020204" pitchFamily="34" charset="0"/>
              </a:rPr>
              <a:t> to test their knowledge in various domains.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Provide </a:t>
            </a:r>
            <a:r>
              <a:rPr kumimoji="0" lang="en-US" altLang="en-US" sz="2400" b="1" i="0" u="none" strike="noStrike" cap="none" normalizeH="0" baseline="0" dirty="0">
                <a:ln>
                  <a:noFill/>
                </a:ln>
                <a:solidFill>
                  <a:schemeClr val="tx1"/>
                </a:solidFill>
                <a:effectLst/>
                <a:latin typeface="Arial" panose="020B0604020202020204" pitchFamily="34" charset="0"/>
              </a:rPr>
              <a:t>real-time feedback</a:t>
            </a:r>
            <a:r>
              <a:rPr kumimoji="0" lang="en-US" altLang="en-US" sz="2400" b="0" i="0" u="none" strike="noStrike" cap="none" normalizeH="0" baseline="0" dirty="0">
                <a:ln>
                  <a:noFill/>
                </a:ln>
                <a:solidFill>
                  <a:schemeClr val="tx1"/>
                </a:solidFill>
                <a:effectLst/>
                <a:latin typeface="Arial" panose="020B0604020202020204" pitchFamily="34" charset="0"/>
              </a:rPr>
              <a:t>, scoring, and result analysis.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Implement </a:t>
            </a:r>
            <a:r>
              <a:rPr kumimoji="0" lang="en-US" altLang="en-US" sz="2400" b="1" i="0" u="none" strike="noStrike" cap="none" normalizeH="0" baseline="0" dirty="0">
                <a:ln>
                  <a:noFill/>
                </a:ln>
                <a:solidFill>
                  <a:schemeClr val="tx1"/>
                </a:solidFill>
                <a:effectLst/>
                <a:latin typeface="Arial" panose="020B0604020202020204" pitchFamily="34" charset="0"/>
              </a:rPr>
              <a:t>secure authentication</a:t>
            </a:r>
            <a:r>
              <a:rPr kumimoji="0" lang="en-US" altLang="en-US" sz="2400" b="0" i="0" u="none" strike="noStrike" cap="none" normalizeH="0" baseline="0" dirty="0">
                <a:ln>
                  <a:noFill/>
                </a:ln>
                <a:solidFill>
                  <a:schemeClr val="tx1"/>
                </a:solidFill>
                <a:effectLst/>
                <a:latin typeface="Arial" panose="020B0604020202020204" pitchFamily="34" charset="0"/>
              </a:rPr>
              <a:t> for users (admin, quiz creators, participants).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Offer </a:t>
            </a:r>
            <a:r>
              <a:rPr kumimoji="0" lang="en-US" altLang="en-US" sz="2400" b="1" i="0" u="none" strike="noStrike" cap="none" normalizeH="0" baseline="0" dirty="0">
                <a:ln>
                  <a:noFill/>
                </a:ln>
                <a:solidFill>
                  <a:schemeClr val="tx1"/>
                </a:solidFill>
                <a:effectLst/>
                <a:latin typeface="Arial" panose="020B0604020202020204" pitchFamily="34" charset="0"/>
              </a:rPr>
              <a:t>customizable quizzes</a:t>
            </a:r>
            <a:r>
              <a:rPr kumimoji="0" lang="en-US" altLang="en-US" sz="2400" b="0" i="0" u="none" strike="noStrike" cap="none" normalizeH="0" baseline="0" dirty="0">
                <a:ln>
                  <a:noFill/>
                </a:ln>
                <a:solidFill>
                  <a:schemeClr val="tx1"/>
                </a:solidFill>
                <a:effectLst/>
                <a:latin typeface="Arial" panose="020B0604020202020204" pitchFamily="34" charset="0"/>
              </a:rPr>
              <a:t>, including </a:t>
            </a:r>
            <a:r>
              <a:rPr kumimoji="0" lang="en-US" altLang="en-US" sz="2400" b="1" i="0" u="none" strike="noStrike" cap="none" normalizeH="0" baseline="0" dirty="0">
                <a:ln>
                  <a:noFill/>
                </a:ln>
                <a:solidFill>
                  <a:schemeClr val="tx1"/>
                </a:solidFill>
                <a:effectLst/>
                <a:latin typeface="Arial" panose="020B0604020202020204" pitchFamily="34" charset="0"/>
              </a:rPr>
              <a:t>MCQs, true/false, and descriptive  questions</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Allow </a:t>
            </a:r>
            <a:r>
              <a:rPr kumimoji="0" lang="en-US" altLang="en-US" sz="2400" b="1" i="0" u="none" strike="noStrike" cap="none" normalizeH="0" baseline="0" dirty="0">
                <a:ln>
                  <a:noFill/>
                </a:ln>
                <a:solidFill>
                  <a:schemeClr val="tx1"/>
                </a:solidFill>
                <a:effectLst/>
                <a:latin typeface="Arial" panose="020B0604020202020204" pitchFamily="34" charset="0"/>
              </a:rPr>
              <a:t>timer-based quizzes</a:t>
            </a:r>
            <a:r>
              <a:rPr kumimoji="0" lang="en-US" altLang="en-US" sz="2400" b="0" i="0" u="none" strike="noStrike" cap="none" normalizeH="0" baseline="0" dirty="0">
                <a:ln>
                  <a:noFill/>
                </a:ln>
                <a:solidFill>
                  <a:schemeClr val="tx1"/>
                </a:solidFill>
                <a:effectLst/>
                <a:latin typeface="Arial" panose="020B0604020202020204" pitchFamily="34" charset="0"/>
              </a:rPr>
              <a:t> to simulate real-world exams.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Maintain a </a:t>
            </a:r>
            <a:r>
              <a:rPr kumimoji="0" lang="en-US" altLang="en-US" sz="2400" b="1" i="0" u="none" strike="noStrike" cap="none" normalizeH="0" baseline="0" dirty="0">
                <a:ln>
                  <a:noFill/>
                </a:ln>
                <a:solidFill>
                  <a:schemeClr val="tx1"/>
                </a:solidFill>
                <a:effectLst/>
                <a:latin typeface="Arial" panose="020B0604020202020204" pitchFamily="34" charset="0"/>
              </a:rPr>
              <a:t>database</a:t>
            </a:r>
            <a:r>
              <a:rPr kumimoji="0" lang="en-US" altLang="en-US" sz="2400" b="0" i="0" u="none" strike="noStrike" cap="none" normalizeH="0" baseline="0" dirty="0">
                <a:ln>
                  <a:noFill/>
                </a:ln>
                <a:solidFill>
                  <a:schemeClr val="tx1"/>
                </a:solidFill>
                <a:effectLst/>
                <a:latin typeface="Arial" panose="020B0604020202020204" pitchFamily="34" charset="0"/>
              </a:rPr>
              <a:t> of quizzes and user performance for analytics.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 Support </a:t>
            </a:r>
            <a:r>
              <a:rPr kumimoji="0" lang="en-US" altLang="en-US" sz="2400" b="1" i="0" u="none" strike="noStrike" cap="none" normalizeH="0" baseline="0" dirty="0">
                <a:ln>
                  <a:noFill/>
                </a:ln>
                <a:solidFill>
                  <a:schemeClr val="tx1"/>
                </a:solidFill>
                <a:effectLst/>
                <a:latin typeface="Arial" panose="020B0604020202020204" pitchFamily="34" charset="0"/>
              </a:rPr>
              <a:t>multi-device accessibility</a:t>
            </a:r>
            <a:r>
              <a:rPr kumimoji="0" lang="en-US" altLang="en-US" sz="2400" b="0" i="0" u="none" strike="noStrike" cap="none" normalizeH="0" baseline="0" dirty="0">
                <a:ln>
                  <a:noFill/>
                </a:ln>
                <a:solidFill>
                  <a:schemeClr val="tx1"/>
                </a:solidFill>
                <a:effectLst/>
                <a:latin typeface="Arial" panose="020B0604020202020204" pitchFamily="34" charset="0"/>
              </a:rPr>
              <a:t> (web &amp; mobile-friendly). </a:t>
            </a:r>
          </a:p>
        </p:txBody>
      </p:sp>
    </p:spTree>
    <p:extLst>
      <p:ext uri="{BB962C8B-B14F-4D97-AF65-F5344CB8AC3E}">
        <p14:creationId xmlns:p14="http://schemas.microsoft.com/office/powerpoint/2010/main" val="32371387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5D13C-F7DC-47B3-9256-CABA1D8A24FA}"/>
              </a:ext>
            </a:extLst>
          </p:cNvPr>
          <p:cNvSpPr>
            <a:spLocks noGrp="1"/>
          </p:cNvSpPr>
          <p:nvPr>
            <p:ph type="title"/>
          </p:nvPr>
        </p:nvSpPr>
        <p:spPr/>
        <p:txBody>
          <a:bodyPr/>
          <a:lstStyle/>
          <a:p>
            <a:r>
              <a:rPr lang="en-IN" dirty="0"/>
              <a:t>Scope</a:t>
            </a:r>
          </a:p>
        </p:txBody>
      </p:sp>
      <p:sp>
        <p:nvSpPr>
          <p:cNvPr id="4" name="Rectangle 1">
            <a:extLst>
              <a:ext uri="{FF2B5EF4-FFF2-40B4-BE49-F238E27FC236}">
                <a16:creationId xmlns:a16="http://schemas.microsoft.com/office/drawing/2014/main" id="{C6B45F6F-EB41-A670-12AD-3E3796B8A0D1}"/>
              </a:ext>
            </a:extLst>
          </p:cNvPr>
          <p:cNvSpPr>
            <a:spLocks noGrp="1" noChangeArrowheads="1"/>
          </p:cNvSpPr>
          <p:nvPr>
            <p:ph idx="1"/>
          </p:nvPr>
        </p:nvSpPr>
        <p:spPr bwMode="auto">
          <a:xfrm>
            <a:off x="658761" y="1775116"/>
            <a:ext cx="1084498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User Roles:</a:t>
            </a:r>
            <a:r>
              <a:rPr kumimoji="0" lang="en-US" altLang="en-US" sz="2400" b="0" i="0" u="none" strike="noStrike" cap="none" normalizeH="0" baseline="0" dirty="0">
                <a:ln>
                  <a:noFill/>
                </a:ln>
                <a:solidFill>
                  <a:schemeClr val="tx1"/>
                </a:solidFill>
                <a:effectLst/>
                <a:latin typeface="Arial" panose="020B0604020202020204" pitchFamily="34" charset="0"/>
              </a:rPr>
              <a:t> Admins (manage users &amp; quizzes), Quiz Creators (upload quizzes), Participants (take quizzes).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Quiz Features:</a:t>
            </a:r>
            <a:r>
              <a:rPr kumimoji="0" lang="en-US" altLang="en-US" sz="2400" b="0" i="0" u="none" strike="noStrike" cap="none" normalizeH="0" baseline="0" dirty="0">
                <a:ln>
                  <a:noFill/>
                </a:ln>
                <a:solidFill>
                  <a:schemeClr val="tx1"/>
                </a:solidFill>
                <a:effectLst/>
                <a:latin typeface="Arial" panose="020B0604020202020204" pitchFamily="34" charset="0"/>
              </a:rPr>
              <a:t> Timed/unlimited quizzes, multiple difficulty levels, random question generation.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Security &amp; Authentication:</a:t>
            </a:r>
            <a:r>
              <a:rPr kumimoji="0" lang="en-US" altLang="en-US" sz="2400" b="0" i="0" u="none" strike="noStrike" cap="none" normalizeH="0" baseline="0" dirty="0">
                <a:ln>
                  <a:noFill/>
                </a:ln>
                <a:solidFill>
                  <a:schemeClr val="tx1"/>
                </a:solidFill>
                <a:effectLst/>
                <a:latin typeface="Arial" panose="020B0604020202020204" pitchFamily="34" charset="0"/>
              </a:rPr>
              <a:t> User login via email, Google authentication, encrypted user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Result &amp; Analysis:</a:t>
            </a:r>
            <a:r>
              <a:rPr kumimoji="0" lang="en-US" altLang="en-US" sz="2400" b="0" i="0" u="none" strike="noStrike" cap="none" normalizeH="0" baseline="0" dirty="0">
                <a:ln>
                  <a:noFill/>
                </a:ln>
                <a:solidFill>
                  <a:schemeClr val="tx1"/>
                </a:solidFill>
                <a:effectLst/>
                <a:latin typeface="Arial" panose="020B0604020202020204" pitchFamily="34" charset="0"/>
              </a:rPr>
              <a:t> Score reports, leaderboards, performance tracking.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Scalability:</a:t>
            </a:r>
            <a:r>
              <a:rPr kumimoji="0" lang="en-US" altLang="en-US" sz="2400" b="0" i="0" u="none" strike="noStrike" cap="none" normalizeH="0" baseline="0" dirty="0">
                <a:ln>
                  <a:noFill/>
                </a:ln>
                <a:solidFill>
                  <a:schemeClr val="tx1"/>
                </a:solidFill>
                <a:effectLst/>
                <a:latin typeface="Arial" panose="020B0604020202020204" pitchFamily="34" charset="0"/>
              </a:rPr>
              <a:t> Can support multiple users simultaneously.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Monetization:</a:t>
            </a:r>
            <a:r>
              <a:rPr kumimoji="0" lang="en-US" altLang="en-US" sz="2400" b="0" i="0" u="none" strike="noStrike" cap="none" normalizeH="0" baseline="0" dirty="0">
                <a:ln>
                  <a:noFill/>
                </a:ln>
                <a:solidFill>
                  <a:schemeClr val="tx1"/>
                </a:solidFill>
                <a:effectLst/>
                <a:latin typeface="Arial" panose="020B0604020202020204" pitchFamily="34" charset="0"/>
              </a:rPr>
              <a:t> Paid quizzes, premium features, certifications, ads.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Integration:</a:t>
            </a:r>
            <a:r>
              <a:rPr kumimoji="0" lang="en-US" altLang="en-US" sz="2400" b="0" i="0" u="none" strike="noStrike" cap="none" normalizeH="0" baseline="0" dirty="0">
                <a:ln>
                  <a:noFill/>
                </a:ln>
                <a:solidFill>
                  <a:schemeClr val="tx1"/>
                </a:solidFill>
                <a:effectLst/>
                <a:latin typeface="Arial" panose="020B0604020202020204" pitchFamily="34" charset="0"/>
              </a:rPr>
              <a:t> Can be linked with LMS (Learning Management Systems). </a:t>
            </a:r>
          </a:p>
        </p:txBody>
      </p:sp>
    </p:spTree>
    <p:extLst>
      <p:ext uri="{BB962C8B-B14F-4D97-AF65-F5344CB8AC3E}">
        <p14:creationId xmlns:p14="http://schemas.microsoft.com/office/powerpoint/2010/main" val="16072178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2ED0C-B5D4-D01F-AE3C-89885076825C}"/>
              </a:ext>
            </a:extLst>
          </p:cNvPr>
          <p:cNvSpPr>
            <a:spLocks noGrp="1"/>
          </p:cNvSpPr>
          <p:nvPr>
            <p:ph type="title"/>
          </p:nvPr>
        </p:nvSpPr>
        <p:spPr/>
        <p:txBody>
          <a:bodyPr/>
          <a:lstStyle/>
          <a:p>
            <a:r>
              <a:rPr lang="en-IN" dirty="0"/>
              <a:t>Abstract</a:t>
            </a:r>
          </a:p>
        </p:txBody>
      </p:sp>
      <p:sp>
        <p:nvSpPr>
          <p:cNvPr id="3" name="Content Placeholder 2">
            <a:extLst>
              <a:ext uri="{FF2B5EF4-FFF2-40B4-BE49-F238E27FC236}">
                <a16:creationId xmlns:a16="http://schemas.microsoft.com/office/drawing/2014/main" id="{86AC77ED-1A0C-52C6-FDCE-8C5225863727}"/>
              </a:ext>
            </a:extLst>
          </p:cNvPr>
          <p:cNvSpPr>
            <a:spLocks noGrp="1"/>
          </p:cNvSpPr>
          <p:nvPr>
            <p:ph idx="1"/>
          </p:nvPr>
        </p:nvSpPr>
        <p:spPr/>
        <p:txBody>
          <a:bodyPr>
            <a:normAutofit/>
          </a:bodyPr>
          <a:lstStyle/>
          <a:p>
            <a:pPr algn="just"/>
            <a:r>
              <a:rPr lang="en-US" sz="2400" dirty="0"/>
              <a:t>The </a:t>
            </a:r>
            <a:r>
              <a:rPr lang="en-US" sz="2400" b="1" dirty="0"/>
              <a:t>Online Quiz Platform Application</a:t>
            </a:r>
            <a:r>
              <a:rPr lang="en-US" sz="2400" dirty="0"/>
              <a:t> is an interactive web-based solution designed for conducting quizzes and assessments. It provides an intuitive and responsive interface where users can participate in quizzes across various subjects. The platform offers customizable quizzes with real-time scoring, time tracking, and performance analytics. The system ensures </a:t>
            </a:r>
            <a:r>
              <a:rPr lang="en-US" sz="2400" b="1" dirty="0"/>
              <a:t>security</a:t>
            </a:r>
            <a:r>
              <a:rPr lang="en-US" sz="2400" dirty="0"/>
              <a:t> through authentication, while </a:t>
            </a:r>
            <a:r>
              <a:rPr lang="en-US" sz="2400" b="1" dirty="0"/>
              <a:t>data analytics</a:t>
            </a:r>
            <a:r>
              <a:rPr lang="en-US" sz="2400" dirty="0"/>
              <a:t> helps in improving learning outcomes. This application is beneficial for </a:t>
            </a:r>
            <a:r>
              <a:rPr lang="en-US" sz="2400" b="1" dirty="0"/>
              <a:t>educators, students, training organizations, and companies</a:t>
            </a:r>
            <a:r>
              <a:rPr lang="en-US" sz="2400" dirty="0"/>
              <a:t> conducting assessments.</a:t>
            </a:r>
            <a:endParaRPr lang="en-IN"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6239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F6486-F050-E828-FEBF-788B413B9EAF}"/>
              </a:ext>
            </a:extLst>
          </p:cNvPr>
          <p:cNvSpPr>
            <a:spLocks noGrp="1"/>
          </p:cNvSpPr>
          <p:nvPr>
            <p:ph type="title"/>
          </p:nvPr>
        </p:nvSpPr>
        <p:spPr/>
        <p:txBody>
          <a:bodyPr/>
          <a:lstStyle/>
          <a:p>
            <a:r>
              <a:rPr lang="en-IN" dirty="0"/>
              <a:t>Tools Used</a:t>
            </a:r>
          </a:p>
        </p:txBody>
      </p:sp>
      <p:sp>
        <p:nvSpPr>
          <p:cNvPr id="3" name="Content Placeholder 2">
            <a:extLst>
              <a:ext uri="{FF2B5EF4-FFF2-40B4-BE49-F238E27FC236}">
                <a16:creationId xmlns:a16="http://schemas.microsoft.com/office/drawing/2014/main" id="{D5DFC8FE-B9AC-62E8-AE19-0399A392C945}"/>
              </a:ext>
            </a:extLst>
          </p:cNvPr>
          <p:cNvSpPr>
            <a:spLocks noGrp="1"/>
          </p:cNvSpPr>
          <p:nvPr>
            <p:ph idx="1"/>
          </p:nvPr>
        </p:nvSpPr>
        <p:spPr>
          <a:xfrm>
            <a:off x="838200" y="1800751"/>
            <a:ext cx="10515600" cy="4376212"/>
          </a:xfrm>
        </p:spPr>
        <p:txBody>
          <a:bodyPr>
            <a:normAutofit/>
          </a:bodyPr>
          <a:lstStyle/>
          <a:p>
            <a:pPr marL="0" indent="0" algn="just">
              <a:buNone/>
            </a:pPr>
            <a:r>
              <a:rPr lang="en-US" sz="1800" dirty="0">
                <a:latin typeface="Arial" panose="020B0604020202020204" pitchFamily="34" charset="0"/>
                <a:cs typeface="Arial" panose="020B0604020202020204" pitchFamily="34" charset="0"/>
              </a:rPr>
              <a:t>.</a:t>
            </a:r>
            <a:endParaRPr lang="en-IN" sz="1800" dirty="0">
              <a:latin typeface="Arial" panose="020B0604020202020204" pitchFamily="34" charset="0"/>
              <a:cs typeface="Arial" panose="020B0604020202020204" pitchFamily="34" charset="0"/>
            </a:endParaRPr>
          </a:p>
        </p:txBody>
      </p:sp>
      <p:sp>
        <p:nvSpPr>
          <p:cNvPr id="4" name="Rectangle 1">
            <a:extLst>
              <a:ext uri="{FF2B5EF4-FFF2-40B4-BE49-F238E27FC236}">
                <a16:creationId xmlns:a16="http://schemas.microsoft.com/office/drawing/2014/main" id="{B3F99ABA-AEB3-EA72-ED10-BF1FFC47BBAE}"/>
              </a:ext>
            </a:extLst>
          </p:cNvPr>
          <p:cNvSpPr>
            <a:spLocks noChangeArrowheads="1"/>
          </p:cNvSpPr>
          <p:nvPr/>
        </p:nvSpPr>
        <p:spPr bwMode="auto">
          <a:xfrm>
            <a:off x="838200" y="145332"/>
            <a:ext cx="10124768"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algn="just"/>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The frontend of the </a:t>
            </a:r>
            <a:r>
              <a:rPr lang="en-US" b="1" dirty="0">
                <a:latin typeface="Arial" panose="020B0604020202020204" pitchFamily="34" charset="0"/>
                <a:cs typeface="Arial" panose="020B0604020202020204" pitchFamily="34" charset="0"/>
              </a:rPr>
              <a:t>Online Quiz Platform</a:t>
            </a:r>
            <a:r>
              <a:rPr lang="en-US" dirty="0">
                <a:latin typeface="Arial" panose="020B0604020202020204" pitchFamily="34" charset="0"/>
                <a:cs typeface="Arial" panose="020B0604020202020204" pitchFamily="34" charset="0"/>
              </a:rPr>
              <a:t> is built using </a:t>
            </a:r>
            <a:r>
              <a:rPr lang="en-US" b="1" dirty="0">
                <a:latin typeface="Arial" panose="020B0604020202020204" pitchFamily="34" charset="0"/>
                <a:cs typeface="Arial" panose="020B0604020202020204" pitchFamily="34" charset="0"/>
              </a:rPr>
              <a:t>HTML</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CSS</a:t>
            </a:r>
            <a:r>
              <a:rPr lang="en-US" dirty="0">
                <a:latin typeface="Arial" panose="020B0604020202020204" pitchFamily="34" charset="0"/>
                <a:cs typeface="Arial" panose="020B0604020202020204" pitchFamily="34" charset="0"/>
              </a:rPr>
              <a:t>, and </a:t>
            </a:r>
            <a:r>
              <a:rPr lang="en-US" b="1" dirty="0">
                <a:latin typeface="Arial" panose="020B0604020202020204" pitchFamily="34" charset="0"/>
                <a:cs typeface="Arial" panose="020B0604020202020204" pitchFamily="34" charset="0"/>
              </a:rPr>
              <a:t>JavaScript</a:t>
            </a:r>
            <a:r>
              <a:rPr lang="en-US" dirty="0">
                <a:latin typeface="Arial" panose="020B0604020202020204" pitchFamily="34" charset="0"/>
                <a:cs typeface="Arial" panose="020B0604020202020204" pitchFamily="34" charset="0"/>
              </a:rPr>
              <a:t>. </a:t>
            </a:r>
            <a:r>
              <a:rPr lang="en-US" b="1" dirty="0">
                <a:latin typeface="Arial" panose="020B0604020202020204" pitchFamily="34" charset="0"/>
                <a:cs typeface="Arial" panose="020B0604020202020204" pitchFamily="34" charset="0"/>
              </a:rPr>
              <a:t>HTML</a:t>
            </a:r>
            <a:r>
              <a:rPr lang="en-US" dirty="0">
                <a:latin typeface="Arial" panose="020B0604020202020204" pitchFamily="34" charset="0"/>
                <a:cs typeface="Arial" panose="020B0604020202020204" pitchFamily="34" charset="0"/>
              </a:rPr>
              <a:t> provides the structure of the web pages, such as the layout for quizzes, answers, and results. </a:t>
            </a:r>
            <a:r>
              <a:rPr lang="en-US" b="1" dirty="0">
                <a:latin typeface="Arial" panose="020B0604020202020204" pitchFamily="34" charset="0"/>
                <a:cs typeface="Arial" panose="020B0604020202020204" pitchFamily="34" charset="0"/>
              </a:rPr>
              <a:t>CSS</a:t>
            </a:r>
            <a:r>
              <a:rPr lang="en-US" dirty="0">
                <a:latin typeface="Arial" panose="020B0604020202020204" pitchFamily="34" charset="0"/>
                <a:cs typeface="Arial" panose="020B0604020202020204" pitchFamily="34" charset="0"/>
              </a:rPr>
              <a:t> is employed to style the platform, ensuring it is visually appealing and responsive across different devices, using modern techniques like Flexbox or CSS Grid for a fluid, adaptable design. </a:t>
            </a:r>
            <a:r>
              <a:rPr lang="en-US" b="1" dirty="0">
                <a:latin typeface="Arial" panose="020B0604020202020204" pitchFamily="34" charset="0"/>
                <a:cs typeface="Arial" panose="020B0604020202020204" pitchFamily="34" charset="0"/>
              </a:rPr>
              <a:t>JavaScript</a:t>
            </a:r>
            <a:r>
              <a:rPr lang="en-US" dirty="0">
                <a:latin typeface="Arial" panose="020B0604020202020204" pitchFamily="34" charset="0"/>
                <a:cs typeface="Arial" panose="020B0604020202020204" pitchFamily="34" charset="0"/>
              </a:rPr>
              <a:t> is used to add dynamic interactivity to the platform, including real-time score updates, form validation, and handling quiz timing and user input.</a:t>
            </a:r>
          </a:p>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The backend of the Online Quiz Platform Application is primarily built using </a:t>
            </a:r>
            <a:r>
              <a:rPr lang="en-US" b="1" dirty="0">
                <a:latin typeface="Arial" panose="020B0604020202020204" pitchFamily="34" charset="0"/>
                <a:cs typeface="Arial" panose="020B0604020202020204" pitchFamily="34" charset="0"/>
              </a:rPr>
              <a:t>Python</a:t>
            </a:r>
            <a:r>
              <a:rPr lang="en-US" dirty="0">
                <a:latin typeface="Arial" panose="020B0604020202020204" pitchFamily="34" charset="0"/>
                <a:cs typeface="Arial" panose="020B0604020202020204" pitchFamily="34" charset="0"/>
              </a:rPr>
              <a:t>, which handles the server-side logic, API development, and database interactions due to its simplicity and scalability. For the web framework, </a:t>
            </a:r>
            <a:r>
              <a:rPr lang="en-US" b="1" dirty="0">
                <a:latin typeface="Arial" panose="020B0604020202020204" pitchFamily="34" charset="0"/>
                <a:cs typeface="Arial" panose="020B0604020202020204" pitchFamily="34" charset="0"/>
              </a:rPr>
              <a:t>Flask</a:t>
            </a:r>
            <a:r>
              <a:rPr lang="en-US" dirty="0">
                <a:latin typeface="Arial" panose="020B0604020202020204" pitchFamily="34" charset="0"/>
                <a:cs typeface="Arial" panose="020B0604020202020204" pitchFamily="34" charset="0"/>
              </a:rPr>
              <a:t> or </a:t>
            </a:r>
            <a:r>
              <a:rPr lang="en-US" b="1" dirty="0">
                <a:latin typeface="Arial" panose="020B0604020202020204" pitchFamily="34" charset="0"/>
                <a:cs typeface="Arial" panose="020B0604020202020204" pitchFamily="34" charset="0"/>
              </a:rPr>
              <a:t>Django</a:t>
            </a:r>
            <a:r>
              <a:rPr lang="en-US" dirty="0">
                <a:latin typeface="Arial" panose="020B0604020202020204" pitchFamily="34" charset="0"/>
                <a:cs typeface="Arial" panose="020B0604020202020204" pitchFamily="34" charset="0"/>
              </a:rPr>
              <a:t> is used, with </a:t>
            </a:r>
            <a:r>
              <a:rPr lang="en-US" b="1" dirty="0">
                <a:latin typeface="Arial" panose="020B0604020202020204" pitchFamily="34" charset="0"/>
                <a:cs typeface="Arial" panose="020B0604020202020204" pitchFamily="34" charset="0"/>
              </a:rPr>
              <a:t>Flask</a:t>
            </a:r>
            <a:r>
              <a:rPr lang="en-US" dirty="0">
                <a:latin typeface="Arial" panose="020B0604020202020204" pitchFamily="34" charset="0"/>
                <a:cs typeface="Arial" panose="020B0604020202020204" pitchFamily="34" charset="0"/>
              </a:rPr>
              <a:t> being ideal for lightweight, flexible applications where developers have more control, while </a:t>
            </a:r>
            <a:r>
              <a:rPr lang="en-US" b="1" dirty="0">
                <a:latin typeface="Arial" panose="020B0604020202020204" pitchFamily="34" charset="0"/>
                <a:cs typeface="Arial" panose="020B0604020202020204" pitchFamily="34" charset="0"/>
              </a:rPr>
              <a:t>Django</a:t>
            </a:r>
            <a:r>
              <a:rPr lang="en-US" dirty="0">
                <a:latin typeface="Arial" panose="020B0604020202020204" pitchFamily="34" charset="0"/>
                <a:cs typeface="Arial" panose="020B0604020202020204" pitchFamily="34" charset="0"/>
              </a:rPr>
              <a:t> is chosen for larger, feature-rich applications with built-in tools like user authentication, an admin panel, and security features. To interact with relational databases, </a:t>
            </a:r>
            <a:r>
              <a:rPr lang="en-US" b="1" dirty="0" err="1">
                <a:latin typeface="Arial" panose="020B0604020202020204" pitchFamily="34" charset="0"/>
                <a:cs typeface="Arial" panose="020B0604020202020204" pitchFamily="34" charset="0"/>
              </a:rPr>
              <a:t>SQLAlchemy</a:t>
            </a:r>
            <a:r>
              <a:rPr lang="en-US" dirty="0">
                <a:latin typeface="Arial" panose="020B0604020202020204" pitchFamily="34" charset="0"/>
                <a:cs typeface="Arial" panose="020B0604020202020204" pitchFamily="34" charset="0"/>
              </a:rPr>
              <a:t> (for Flask) and </a:t>
            </a:r>
            <a:r>
              <a:rPr lang="en-US" b="1" dirty="0">
                <a:latin typeface="Arial" panose="020B0604020202020204" pitchFamily="34" charset="0"/>
                <a:cs typeface="Arial" panose="020B0604020202020204" pitchFamily="34" charset="0"/>
              </a:rPr>
              <a:t>Django ORM</a:t>
            </a:r>
            <a:r>
              <a:rPr lang="en-US" dirty="0">
                <a:latin typeface="Arial" panose="020B0604020202020204" pitchFamily="34" charset="0"/>
                <a:cs typeface="Arial" panose="020B0604020202020204" pitchFamily="34" charset="0"/>
              </a:rPr>
              <a:t> (for Django) are used. These ORMs simplify database operations by mapping Python objects to database tables, allowing developers to manage data without writing raw SQL queries.</a:t>
            </a:r>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98948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76881-4DA8-4E36-E517-D987AEB05556}"/>
              </a:ext>
            </a:extLst>
          </p:cNvPr>
          <p:cNvSpPr>
            <a:spLocks noGrp="1"/>
          </p:cNvSpPr>
          <p:nvPr>
            <p:ph type="title"/>
          </p:nvPr>
        </p:nvSpPr>
        <p:spPr/>
        <p:txBody>
          <a:bodyPr/>
          <a:lstStyle/>
          <a:p>
            <a:r>
              <a:rPr lang="en-IN" dirty="0"/>
              <a:t>Project impact in real time</a:t>
            </a:r>
          </a:p>
        </p:txBody>
      </p:sp>
      <p:sp>
        <p:nvSpPr>
          <p:cNvPr id="4" name="Rectangle 1">
            <a:extLst>
              <a:ext uri="{FF2B5EF4-FFF2-40B4-BE49-F238E27FC236}">
                <a16:creationId xmlns:a16="http://schemas.microsoft.com/office/drawing/2014/main" id="{64F2EAFF-D911-7D2B-FC27-3314E81F0308}"/>
              </a:ext>
            </a:extLst>
          </p:cNvPr>
          <p:cNvSpPr>
            <a:spLocks noGrp="1" noChangeArrowheads="1"/>
          </p:cNvSpPr>
          <p:nvPr>
            <p:ph idx="1"/>
          </p:nvPr>
        </p:nvSpPr>
        <p:spPr bwMode="auto">
          <a:xfrm>
            <a:off x="838200" y="1789471"/>
            <a:ext cx="10704871" cy="3421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Education &amp; E-Learning:</a:t>
            </a:r>
            <a:r>
              <a:rPr kumimoji="0" lang="en-US" altLang="en-US" sz="2400" b="0" i="0" u="none" strike="noStrike" cap="none" normalizeH="0" baseline="0" dirty="0">
                <a:ln>
                  <a:noFill/>
                </a:ln>
                <a:solidFill>
                  <a:schemeClr val="tx1"/>
                </a:solidFill>
                <a:effectLst/>
                <a:latin typeface="Arial" panose="020B0604020202020204" pitchFamily="34" charset="0"/>
              </a:rPr>
              <a:t> Used in schools, colleges, and training institutes for assessments.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Corporate Training:</a:t>
            </a:r>
            <a:r>
              <a:rPr kumimoji="0" lang="en-US" altLang="en-US" sz="2400" b="0" i="0" u="none" strike="noStrike" cap="none" normalizeH="0" baseline="0" dirty="0">
                <a:ln>
                  <a:noFill/>
                </a:ln>
                <a:solidFill>
                  <a:schemeClr val="tx1"/>
                </a:solidFill>
                <a:effectLst/>
                <a:latin typeface="Arial" panose="020B0604020202020204" pitchFamily="34" charset="0"/>
              </a:rPr>
              <a:t> Companies use it for employee training and certification exams.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Competitive Exams:</a:t>
            </a:r>
            <a:r>
              <a:rPr kumimoji="0" lang="en-US" altLang="en-US" sz="2400" b="0" i="0" u="none" strike="noStrike" cap="none" normalizeH="0" baseline="0" dirty="0">
                <a:ln>
                  <a:noFill/>
                </a:ln>
                <a:solidFill>
                  <a:schemeClr val="tx1"/>
                </a:solidFill>
                <a:effectLst/>
                <a:latin typeface="Arial" panose="020B0604020202020204" pitchFamily="34" charset="0"/>
              </a:rPr>
              <a:t> Can be adapted for mock tests (e.g., GRE, IELTS, SAT, etc.).</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Recruitment Process:</a:t>
            </a:r>
            <a:r>
              <a:rPr kumimoji="0" lang="en-US" altLang="en-US" sz="2400" b="0" i="0" u="none" strike="noStrike" cap="none" normalizeH="0" baseline="0" dirty="0">
                <a:ln>
                  <a:noFill/>
                </a:ln>
                <a:solidFill>
                  <a:schemeClr val="tx1"/>
                </a:solidFill>
                <a:effectLst/>
                <a:latin typeface="Arial" panose="020B0604020202020204" pitchFamily="34" charset="0"/>
              </a:rPr>
              <a:t> Employers use it to assess candidates before hiring.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 Public Awareness Quizzes:</a:t>
            </a:r>
            <a:r>
              <a:rPr kumimoji="0" lang="en-US" altLang="en-US" sz="2400" b="0" i="0" u="none" strike="noStrike" cap="none" normalizeH="0" baseline="0" dirty="0">
                <a:ln>
                  <a:noFill/>
                </a:ln>
                <a:solidFill>
                  <a:schemeClr val="tx1"/>
                </a:solidFill>
                <a:effectLst/>
                <a:latin typeface="Arial" panose="020B0604020202020204" pitchFamily="34" charset="0"/>
              </a:rPr>
              <a:t> Governments and NGOs use it for awareness campaigns (e.g., cybersecurity, health awareness). </a:t>
            </a:r>
          </a:p>
        </p:txBody>
      </p:sp>
    </p:spTree>
    <p:extLst>
      <p:ext uri="{BB962C8B-B14F-4D97-AF65-F5344CB8AC3E}">
        <p14:creationId xmlns:p14="http://schemas.microsoft.com/office/powerpoint/2010/main" val="187560168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TotalTime>
  <Words>675</Words>
  <Application>Microsoft Office PowerPoint</Application>
  <PresentationFormat>Widescreen</PresentationFormat>
  <Paragraphs>46</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REVIEW-01</vt:lpstr>
      <vt:lpstr>                      Online Quiz Platform Application</vt:lpstr>
      <vt:lpstr>Objectives</vt:lpstr>
      <vt:lpstr>Scope</vt:lpstr>
      <vt:lpstr>Abstract</vt:lpstr>
      <vt:lpstr>Tools Used</vt:lpstr>
      <vt:lpstr>Project impact in real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 Venkata Teja</dc:creator>
  <cp:lastModifiedBy>Venkata Teja P</cp:lastModifiedBy>
  <cp:revision>4</cp:revision>
  <dcterms:created xsi:type="dcterms:W3CDTF">2025-02-10T16:35:11Z</dcterms:created>
  <dcterms:modified xsi:type="dcterms:W3CDTF">2025-02-11T15:45:51Z</dcterms:modified>
</cp:coreProperties>
</file>